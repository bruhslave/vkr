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69" r:id="rId2"/>
    <p:sldId id="257" r:id="rId3"/>
    <p:sldId id="259" r:id="rId4"/>
    <p:sldId id="258" r:id="rId5"/>
    <p:sldId id="260" r:id="rId6"/>
    <p:sldId id="261" r:id="rId7"/>
    <p:sldId id="264" r:id="rId8"/>
    <p:sldId id="265" r:id="rId9"/>
    <p:sldId id="266" r:id="rId10"/>
    <p:sldId id="270" r:id="rId11"/>
    <p:sldId id="274" r:id="rId12"/>
    <p:sldId id="279" r:id="rId13"/>
    <p:sldId id="267" r:id="rId14"/>
    <p:sldId id="272" r:id="rId15"/>
    <p:sldId id="268" r:id="rId16"/>
    <p:sldId id="262" r:id="rId17"/>
    <p:sldId id="273" r:id="rId18"/>
    <p:sldId id="276" r:id="rId19"/>
    <p:sldId id="278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71E9"/>
    <a:srgbClr val="002060"/>
    <a:srgbClr val="B0E0E6"/>
    <a:srgbClr val="FFDAB9"/>
    <a:srgbClr val="FFC0CB"/>
    <a:srgbClr val="ADD8E6"/>
    <a:srgbClr val="92D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24C41-C125-49BE-B489-6634DA544F9A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CBBAD-F4C0-4F19-8E90-AC040CF213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490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 userDrawn="1"/>
        </p:nvSpPr>
        <p:spPr>
          <a:xfrm>
            <a:off x="0" y="1507342"/>
            <a:ext cx="12192000" cy="4683779"/>
          </a:xfrm>
          <a:prstGeom prst="rect">
            <a:avLst/>
          </a:prstGeom>
          <a:solidFill>
            <a:srgbClr val="DEF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0" y="3184247"/>
            <a:ext cx="12192000" cy="113581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«Тема ВКР согласно приказу»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38200" y="153125"/>
            <a:ext cx="1047516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учреждение высшего образования «Государственный университет морского и речного флота имени адмирала С.О. Макарова»</a:t>
            </a:r>
          </a:p>
          <a:p>
            <a:pPr algn="ctr"/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Институт водного транспорта</a:t>
            </a:r>
          </a:p>
          <a:p>
            <a:pPr algn="ctr"/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Кафедра</a:t>
            </a:r>
            <a:r>
              <a:rPr lang="ru-RU" sz="16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вычислительных систем и информатики</a:t>
            </a: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372" y="111593"/>
            <a:ext cx="1253262" cy="1247953"/>
          </a:xfrm>
          <a:prstGeom prst="rect">
            <a:avLst/>
          </a:prstGeom>
        </p:spPr>
      </p:pic>
      <p:pic>
        <p:nvPicPr>
          <p:cNvPr id="9" name="Picture 2" descr="https://ivt.gumrf.ru/wp-content/themes/RuNetSoftMTM/images/vodn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08263" y="130495"/>
            <a:ext cx="1309092" cy="122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0" y="1935653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ВЫПУСКНАЯ КВАЛИФИКАЦИОННАЯ РАБОТА БАКАЛАВРА </a:t>
            </a:r>
          </a:p>
          <a:p>
            <a:pPr algn="ctr"/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направлению подготовки </a:t>
            </a: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09.03.02</a:t>
            </a: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«Информационные системы и технологии»</a:t>
            </a:r>
          </a:p>
          <a:p>
            <a:pPr algn="ctr"/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тему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571841" y="4658262"/>
            <a:ext cx="2814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ВЫПОЛНИЛ: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3556519" y="5406799"/>
            <a:ext cx="2814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3027783" y="62116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Санкт-Петербург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2024</a:t>
            </a:r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298671" y="5418962"/>
            <a:ext cx="5764256" cy="34500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Фамилия И.О. </a:t>
            </a:r>
          </a:p>
        </p:txBody>
      </p:sp>
      <p:sp>
        <p:nvSpPr>
          <p:cNvPr id="18" name="Текст 26"/>
          <p:cNvSpPr>
            <a:spLocks noGrp="1"/>
          </p:cNvSpPr>
          <p:nvPr>
            <p:ph type="body" sz="quarter" idx="14" hasCustomPrompt="1"/>
          </p:nvPr>
        </p:nvSpPr>
        <p:spPr>
          <a:xfrm>
            <a:off x="6298671" y="5781494"/>
            <a:ext cx="5764256" cy="345005"/>
          </a:xfrm>
        </p:spPr>
        <p:txBody>
          <a:bodyPr/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степень, звание </a:t>
            </a:r>
          </a:p>
          <a:p>
            <a:pPr lvl="0"/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5" hasCustomPrompt="1"/>
          </p:nvPr>
        </p:nvSpPr>
        <p:spPr>
          <a:xfrm>
            <a:off x="6298671" y="4651374"/>
            <a:ext cx="5764256" cy="33590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Фамилия И.О. </a:t>
            </a:r>
          </a:p>
          <a:p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6" hasCustomPrompt="1"/>
          </p:nvPr>
        </p:nvSpPr>
        <p:spPr>
          <a:xfrm>
            <a:off x="6298671" y="4992638"/>
            <a:ext cx="5764256" cy="321901"/>
          </a:xfrm>
        </p:spPr>
        <p:txBody>
          <a:bodyPr/>
          <a:lstStyle>
            <a:lvl1pPr marL="0" indent="0">
              <a:buNone/>
              <a:defRPr lang="ru-RU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ru-RU" dirty="0"/>
              <a:t>студент(ка) группы</a:t>
            </a:r>
            <a:r>
              <a:rPr lang="ru-RU" baseline="0" dirty="0"/>
              <a:t> ИС-4Х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0620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949158"/>
            <a:ext cx="12192000" cy="5908842"/>
          </a:xfrm>
          <a:prstGeom prst="rect">
            <a:avLst/>
          </a:prstGeom>
          <a:solidFill>
            <a:srgbClr val="DEF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20819" y="0"/>
            <a:ext cx="10313238" cy="839755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91412" y="951721"/>
            <a:ext cx="11209176" cy="5266289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второй уровень;</a:t>
            </a:r>
          </a:p>
          <a:p>
            <a:pPr lvl="2"/>
            <a:r>
              <a:rPr lang="ru-RU" dirty="0"/>
              <a:t>третий уровень;</a:t>
            </a:r>
          </a:p>
          <a:p>
            <a:pPr lvl="3"/>
            <a:r>
              <a:rPr lang="ru-RU" dirty="0"/>
              <a:t>четвертый уровень;</a:t>
            </a:r>
          </a:p>
          <a:p>
            <a:pPr lvl="4"/>
            <a:r>
              <a:rPr lang="ru-RU" dirty="0"/>
              <a:t>пятый уровень.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C09F-A166-4B51-AD74-690AE2048C92}" type="datetime1">
              <a:rPr lang="ru-RU" smtClean="0"/>
              <a:t>06.07.2024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306" y="73586"/>
            <a:ext cx="703970" cy="700988"/>
          </a:xfrm>
          <a:prstGeom prst="rect">
            <a:avLst/>
          </a:prstGeom>
        </p:spPr>
      </p:pic>
      <p:pic>
        <p:nvPicPr>
          <p:cNvPr id="8" name="Picture 2" descr="https://ivt.gumrf.ru/wp-content/themes/RuNetSoftMTM/images/vodn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83363" y="88178"/>
            <a:ext cx="735331" cy="68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0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F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8416" y="3484535"/>
            <a:ext cx="1047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БЛАГОДАРЮ</a:t>
            </a:r>
            <a:r>
              <a:rPr lang="ru-RU" sz="3600" b="1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ЗА ВНИМАНИЕ!</a:t>
            </a:r>
            <a:endParaRPr lang="ru-RU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2719388" y="1036638"/>
            <a:ext cx="4635500" cy="16240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41091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C56-E597-4725-909B-5EA463DDA5DA}" type="datetime1">
              <a:rPr lang="ru-RU" smtClean="0"/>
              <a:t>06.07.2024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03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6F10-474F-4261-A11B-7F0F0E188F0C}" type="datetime1">
              <a:rPr lang="ru-RU" smtClean="0"/>
              <a:t>06.07.2024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60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10E3-CCC0-4CD0-8195-49E8CD5CAA7D}" type="datetime1">
              <a:rPr lang="ru-RU" smtClean="0"/>
              <a:t>06.07.2024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22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6C78-994B-41A1-AB79-D7A18EDF31AD}" type="datetime1">
              <a:rPr lang="ru-RU" smtClean="0"/>
              <a:t>06.07.2024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289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0880-0E4D-47EF-8C29-C590FD518E1A}" type="datetime1">
              <a:rPr lang="ru-RU" smtClean="0"/>
              <a:t>06.07.2024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60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DC9CE-F3F3-43E8-A22F-B78BA2D525F2}" type="datetime1">
              <a:rPr lang="ru-RU" smtClean="0"/>
              <a:t>06.07.2024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317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F437-0BAD-45FA-B2CC-74B620C6CCF7}" type="datetime1">
              <a:rPr lang="ru-RU" smtClean="0"/>
              <a:t>06.07.2024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07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5B40D-0355-401C-97BA-5A165F845F02}" type="datetime1">
              <a:rPr lang="ru-RU" smtClean="0"/>
              <a:t>06.07.2024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139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92C0-78D4-412E-A1A4-3CAE466F9E58}" type="datetime1">
              <a:rPr lang="ru-RU" smtClean="0"/>
              <a:t>06.07.2024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6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0F-6542-4096-BAE4-D94E218B6245}" type="datetime1">
              <a:rPr lang="ru-RU" smtClean="0"/>
              <a:t>06.07.2024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319727" y="63554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8F679A-727F-4C4B-9922-BEE4867AF12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566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Разработка информационной системы учебного заведения с реализацией удаленного доступа и обеспечением конфиденциальности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Егоров А. Н.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Профессор кафедры </a:t>
            </a:r>
            <a:r>
              <a:rPr lang="ru-RU" dirty="0" err="1"/>
              <a:t>ВСиИ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Крылов Н. А.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Студент группы ИС-41</a:t>
            </a:r>
          </a:p>
        </p:txBody>
      </p:sp>
    </p:spTree>
    <p:extLst>
      <p:ext uri="{BB962C8B-B14F-4D97-AF65-F5344CB8AC3E}">
        <p14:creationId xmlns:p14="http://schemas.microsoft.com/office/powerpoint/2010/main" val="150685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ОБОСНОВАНИЕ АКТУАЛЬНОСТИ 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Courier New" panose="02070309020205020404" pitchFamily="49" charset="0"/>
              <a:buChar char="o"/>
            </a:pPr>
            <a:endParaRPr lang="ru-RU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ru-RU" dirty="0"/>
          </a:p>
          <a:p>
            <a:pPr marL="1080000" indent="-45720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3200" dirty="0"/>
              <a:t>Большой объем бумажной работы</a:t>
            </a:r>
          </a:p>
          <a:p>
            <a:pPr marL="1080000" indent="-45720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3200" dirty="0"/>
              <a:t>Высокие трудозатраты на рутинную работу</a:t>
            </a:r>
          </a:p>
          <a:p>
            <a:pPr marL="1080000" indent="-45720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3200" dirty="0"/>
              <a:t>Ошибки и неточности в работе человека</a:t>
            </a:r>
          </a:p>
          <a:p>
            <a:pPr marL="1080000" indent="-45720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3200" dirty="0"/>
              <a:t>Невозможность оперативного доступа к данным</a:t>
            </a:r>
          </a:p>
          <a:p>
            <a:pPr marL="1080000" indent="-45720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3200" dirty="0"/>
              <a:t>Частичная автоматизация вследствие эксплуатации</a:t>
            </a:r>
            <a:br>
              <a:rPr lang="ru-RU" sz="3200" dirty="0"/>
            </a:br>
            <a:r>
              <a:rPr lang="ru-RU" sz="3200" dirty="0"/>
              <a:t>большого числа несвязанных систем</a:t>
            </a:r>
          </a:p>
          <a:p>
            <a:pPr marL="1080000" indent="-45720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3200" dirty="0"/>
              <a:t>Недостаточная безопасность персональных данных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5056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ВКР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3380" y="997527"/>
            <a:ext cx="11053665" cy="5357916"/>
          </a:xfrm>
        </p:spPr>
        <p:txBody>
          <a:bodyPr>
            <a:normAutofit lnSpcReduction="10000"/>
          </a:bodyPr>
          <a:lstStyle/>
          <a:p>
            <a:endParaRPr lang="ru-RU" b="1" dirty="0"/>
          </a:p>
          <a:p>
            <a:r>
              <a:rPr lang="ru-RU" b="1" dirty="0"/>
              <a:t>Цель</a:t>
            </a:r>
            <a:r>
              <a:rPr lang="ru-RU" dirty="0"/>
              <a:t> работы </a:t>
            </a:r>
            <a:r>
              <a:rPr lang="ru-RU" dirty="0">
                <a:sym typeface="Symbol" panose="05050102010706020507" pitchFamily="18" charset="2"/>
              </a:rPr>
              <a:t> оптимизировать процесс </a:t>
            </a:r>
            <a:r>
              <a:rPr lang="ru-RU" u="sng" dirty="0">
                <a:sym typeface="Symbol" panose="05050102010706020507" pitchFamily="18" charset="2"/>
              </a:rPr>
              <a:t>делопроизводства</a:t>
            </a:r>
            <a:r>
              <a:rPr lang="ru-RU" dirty="0">
                <a:sym typeface="Symbol" panose="05050102010706020507" pitchFamily="18" charset="2"/>
              </a:rPr>
              <a:t> в образовательной организации, с помощью информационной системы.</a:t>
            </a:r>
          </a:p>
          <a:p>
            <a:r>
              <a:rPr lang="ru-RU" b="1" dirty="0">
                <a:sym typeface="Symbol" panose="05050102010706020507" pitchFamily="18" charset="2"/>
              </a:rPr>
              <a:t>Задачи:</a:t>
            </a: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Проанализировать предметную область и определить требования к системе</a:t>
            </a:r>
            <a:r>
              <a:rPr lang="en-GB" dirty="0">
                <a:sym typeface="Symbol" panose="05050102010706020507" pitchFamily="18" charset="2"/>
              </a:rPr>
              <a:t>;</a:t>
            </a:r>
            <a:endParaRPr lang="ru-RU" dirty="0">
              <a:sym typeface="Symbol" panose="05050102010706020507" pitchFamily="18" charset="2"/>
            </a:endParaRP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Спроектировать архитектуру системы</a:t>
            </a:r>
            <a:r>
              <a:rPr lang="en-GB" dirty="0">
                <a:sym typeface="Symbol" panose="05050102010706020507" pitchFamily="18" charset="2"/>
              </a:rPr>
              <a:t>;</a:t>
            </a:r>
            <a:endParaRPr lang="ru-RU" dirty="0">
              <a:sym typeface="Symbol" panose="05050102010706020507" pitchFamily="18" charset="2"/>
            </a:endParaRP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Разработать информационную систему</a:t>
            </a:r>
            <a:r>
              <a:rPr lang="en-GB" dirty="0">
                <a:sym typeface="Symbol" panose="05050102010706020507" pitchFamily="18" charset="2"/>
              </a:rPr>
              <a:t>;</a:t>
            </a:r>
            <a:endParaRPr lang="ru-RU" dirty="0">
              <a:sym typeface="Symbol" panose="05050102010706020507" pitchFamily="18" charset="2"/>
            </a:endParaRP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Обеспечить безопасность и конфиденциальность</a:t>
            </a:r>
            <a:r>
              <a:rPr lang="en-GB" dirty="0">
                <a:sym typeface="Symbol" panose="05050102010706020507" pitchFamily="18" charset="2"/>
              </a:rPr>
              <a:t>;</a:t>
            </a:r>
            <a:endParaRPr lang="ru-RU" dirty="0">
              <a:sym typeface="Symbol" panose="05050102010706020507" pitchFamily="18" charset="2"/>
            </a:endParaRP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Настроить непрерывную разработку и развертывание</a:t>
            </a:r>
            <a:r>
              <a:rPr lang="en-GB" dirty="0">
                <a:sym typeface="Symbol" panose="05050102010706020507" pitchFamily="18" charset="2"/>
              </a:rPr>
              <a:t>;</a:t>
            </a:r>
            <a:endParaRPr lang="ru-RU" dirty="0">
              <a:sym typeface="Symbol" panose="05050102010706020507" pitchFamily="18" charset="2"/>
            </a:endParaRP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Проверить и проанализировать реализованную систему</a:t>
            </a:r>
            <a:r>
              <a:rPr lang="en-GB" dirty="0">
                <a:sym typeface="Symbol" panose="05050102010706020507" pitchFamily="18" charset="2"/>
              </a:rPr>
              <a:t>.</a:t>
            </a:r>
            <a:endParaRPr lang="ru-RU" dirty="0">
              <a:sym typeface="Symbol" panose="05050102010706020507" pitchFamily="18" charset="2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482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Равнобедренный треугольник 35">
            <a:extLst>
              <a:ext uri="{FF2B5EF4-FFF2-40B4-BE49-F238E27FC236}">
                <a16:creationId xmlns:a16="http://schemas.microsoft.com/office/drawing/2014/main" id="{4EC41B3F-CAC7-405B-A253-F1D6211346F1}"/>
              </a:ext>
            </a:extLst>
          </p:cNvPr>
          <p:cNvSpPr/>
          <p:nvPr/>
        </p:nvSpPr>
        <p:spPr>
          <a:xfrm>
            <a:off x="2294311" y="1505818"/>
            <a:ext cx="14304924" cy="5448279"/>
          </a:xfrm>
          <a:prstGeom prst="triangle">
            <a:avLst>
              <a:gd name="adj" fmla="val 7839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ОБЗОР СУЩЕСТВУЮЩИХ РЕШЕНИЙ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52F4DA0-B34A-4F71-AE02-2A2DBD4D1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667" y="1183486"/>
            <a:ext cx="1349938" cy="1349938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4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D05F8F1-462A-4F58-88E7-70FEA7FFB8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065" y="4345425"/>
            <a:ext cx="2086494" cy="563072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0E5D360-AAE1-48B5-933A-D68074498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46" y="2548092"/>
            <a:ext cx="1686331" cy="1686331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5A37048-B1EC-4914-BDB0-B83A79C917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470" y="5373354"/>
            <a:ext cx="1686331" cy="674533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FD14C8-FF6C-4087-9A4E-EDD8D3C917E3}"/>
              </a:ext>
            </a:extLst>
          </p:cNvPr>
          <p:cNvSpPr txBox="1"/>
          <p:nvPr/>
        </p:nvSpPr>
        <p:spPr>
          <a:xfrm>
            <a:off x="3927763" y="1305285"/>
            <a:ext cx="7253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1С:Предприятие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– Платформа для разработки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Гибкость, масштабируемость, обширное сообщество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0DD7C7-7B41-42BB-A194-7481A3E8FDD9}"/>
              </a:ext>
            </a:extLst>
          </p:cNvPr>
          <p:cNvSpPr txBox="1"/>
          <p:nvPr/>
        </p:nvSpPr>
        <p:spPr>
          <a:xfrm>
            <a:off x="5677592" y="2548092"/>
            <a:ext cx="1263533" cy="3886960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3900" dirty="0"/>
              <a:t>}</a:t>
            </a:r>
            <a:endParaRPr lang="ru-RU" sz="23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F2469D-58A3-4930-AE2D-8C8D9CFE438A}"/>
              </a:ext>
            </a:extLst>
          </p:cNvPr>
          <p:cNvSpPr txBox="1"/>
          <p:nvPr/>
        </p:nvSpPr>
        <p:spPr>
          <a:xfrm>
            <a:off x="3927763" y="3159623"/>
            <a:ext cx="2086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СБИС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4C6032-F68D-44B2-9564-69D8A9E0646B}"/>
              </a:ext>
            </a:extLst>
          </p:cNvPr>
          <p:cNvSpPr txBox="1"/>
          <p:nvPr/>
        </p:nvSpPr>
        <p:spPr>
          <a:xfrm>
            <a:off x="3927763" y="4229958"/>
            <a:ext cx="267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КОНТУР ДИАДОК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919375-7411-410C-9E75-E46D0C54BD99}"/>
              </a:ext>
            </a:extLst>
          </p:cNvPr>
          <p:cNvSpPr txBox="1"/>
          <p:nvPr/>
        </p:nvSpPr>
        <p:spPr>
          <a:xfrm>
            <a:off x="3927763" y="5536892"/>
            <a:ext cx="2086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ДЕЛО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7D7514-877E-4725-9863-78193FCD0A21}"/>
              </a:ext>
            </a:extLst>
          </p:cNvPr>
          <p:cNvSpPr txBox="1"/>
          <p:nvPr/>
        </p:nvSpPr>
        <p:spPr>
          <a:xfrm>
            <a:off x="7277789" y="3472799"/>
            <a:ext cx="49142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Готовое решение</a:t>
            </a:r>
            <a:b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Набор универсальных модулей</a:t>
            </a:r>
          </a:p>
          <a:p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Ориентированы на бизнес</a:t>
            </a:r>
          </a:p>
        </p:txBody>
      </p:sp>
    </p:spTree>
    <p:extLst>
      <p:ext uri="{BB962C8B-B14F-4D97-AF65-F5344CB8AC3E}">
        <p14:creationId xmlns:p14="http://schemas.microsoft.com/office/powerpoint/2010/main" val="1398810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1639EAB-90E0-4A94-BE7E-92A02D3C1BBC}"/>
              </a:ext>
            </a:extLst>
          </p:cNvPr>
          <p:cNvSpPr/>
          <p:nvPr/>
        </p:nvSpPr>
        <p:spPr>
          <a:xfrm>
            <a:off x="-1" y="952900"/>
            <a:ext cx="5611529" cy="5905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ТРЕБОВАНИЯ К ИС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71ACC-8C3C-4874-897E-18297A3A3172}"/>
              </a:ext>
            </a:extLst>
          </p:cNvPr>
          <p:cNvSpPr txBox="1"/>
          <p:nvPr/>
        </p:nvSpPr>
        <p:spPr>
          <a:xfrm>
            <a:off x="733993" y="1443841"/>
            <a:ext cx="47185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Свойства</a:t>
            </a:r>
          </a:p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u="sng" dirty="0">
                <a:latin typeface="Arial" panose="020B0604020202020204" pitchFamily="34" charset="0"/>
                <a:cs typeface="Arial" panose="020B0604020202020204" pitchFamily="34" charset="0"/>
              </a:rPr>
              <a:t>Безопасность данных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u="sng" dirty="0">
                <a:latin typeface="Arial" panose="020B0604020202020204" pitchFamily="34" charset="0"/>
                <a:cs typeface="Arial" panose="020B0604020202020204" pitchFamily="34" charset="0"/>
              </a:rPr>
              <a:t>Гибкость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u="sng" dirty="0">
                <a:latin typeface="Arial" panose="020B0604020202020204" pitchFamily="34" charset="0"/>
                <a:cs typeface="Arial" panose="020B0604020202020204" pitchFamily="34" charset="0"/>
              </a:rPr>
              <a:t>Удаленный доступ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Удобство использования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Отказоустойчивость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Кроссплатформенность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Легкость поддержки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96305A-B70D-44CE-9FF6-4A155EEE6149}"/>
              </a:ext>
            </a:extLst>
          </p:cNvPr>
          <p:cNvSpPr txBox="1"/>
          <p:nvPr/>
        </p:nvSpPr>
        <p:spPr>
          <a:xfrm>
            <a:off x="5842535" y="1443841"/>
            <a:ext cx="59772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Функции</a:t>
            </a:r>
          </a:p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u="sng" dirty="0">
                <a:latin typeface="Arial" panose="020B0604020202020204" pitchFamily="34" charset="0"/>
                <a:cs typeface="Arial" panose="020B0604020202020204" pitchFamily="34" charset="0"/>
              </a:rPr>
              <a:t>Автоматизация развертывания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Сопровождение информации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Импорт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Формирование отчетов</a:t>
            </a:r>
          </a:p>
        </p:txBody>
      </p:sp>
    </p:spTree>
    <p:extLst>
      <p:ext uri="{BB962C8B-B14F-4D97-AF65-F5344CB8AC3E}">
        <p14:creationId xmlns:p14="http://schemas.microsoft.com/office/powerpoint/2010/main" val="427418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Овал 46">
            <a:extLst>
              <a:ext uri="{FF2B5EF4-FFF2-40B4-BE49-F238E27FC236}">
                <a16:creationId xmlns:a16="http://schemas.microsoft.com/office/drawing/2014/main" id="{284CC360-2066-477C-95F5-559E5734E89C}"/>
              </a:ext>
            </a:extLst>
          </p:cNvPr>
          <p:cNvSpPr/>
          <p:nvPr/>
        </p:nvSpPr>
        <p:spPr>
          <a:xfrm>
            <a:off x="-2758809" y="4605085"/>
            <a:ext cx="6256421" cy="659591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СРЕДСТВА РАЗРАБОТКИ И СОПРОВОЖДЕНИЯ ИС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DB3BD09-B592-44D9-800F-E6741772D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3" t="7285" r="5242" b="10485"/>
          <a:stretch/>
        </p:blipFill>
        <p:spPr>
          <a:xfrm>
            <a:off x="9136584" y="1474572"/>
            <a:ext cx="1307843" cy="1201410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6</a:t>
            </a:fld>
            <a:endParaRPr lang="ru-RU"/>
          </a:p>
        </p:txBody>
      </p:sp>
      <p:pic>
        <p:nvPicPr>
          <p:cNvPr id="7" name="Объект 7">
            <a:extLst>
              <a:ext uri="{FF2B5EF4-FFF2-40B4-BE49-F238E27FC236}">
                <a16:creationId xmlns:a16="http://schemas.microsoft.com/office/drawing/2014/main" id="{A3A629F9-1B55-48D1-8035-50E87503E3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0" y="1449657"/>
            <a:ext cx="1201409" cy="1201409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631AF0C-C2A6-4AE3-B430-E951846A0B7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1" r="18608"/>
          <a:stretch/>
        </p:blipFill>
        <p:spPr>
          <a:xfrm>
            <a:off x="9090702" y="4606921"/>
            <a:ext cx="1527736" cy="1352868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E55DF8B-9045-4421-9751-2B0D0F5C366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93" t="15354" r="27259" b="15680"/>
          <a:stretch/>
        </p:blipFill>
        <p:spPr>
          <a:xfrm>
            <a:off x="9189802" y="3033487"/>
            <a:ext cx="1201409" cy="1207447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3D34251-BAD5-4CBD-87BD-20770C5FDC6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38" t="14963" r="27097" b="14601"/>
          <a:stretch/>
        </p:blipFill>
        <p:spPr>
          <a:xfrm>
            <a:off x="1405611" y="2951641"/>
            <a:ext cx="1327180" cy="1352869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191460E-4A12-45CB-B110-CE13AECC1B2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562" y="4743407"/>
            <a:ext cx="1076023" cy="1076023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AFBD7C3-70BA-48BB-80D7-B03220859B47}"/>
              </a:ext>
            </a:extLst>
          </p:cNvPr>
          <p:cNvSpPr txBox="1"/>
          <p:nvPr/>
        </p:nvSpPr>
        <p:spPr>
          <a:xfrm>
            <a:off x="6024220" y="1348448"/>
            <a:ext cx="3044792" cy="112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C2F9B3-81E7-4C11-B568-C22E4F14FA12}"/>
              </a:ext>
            </a:extLst>
          </p:cNvPr>
          <p:cNvSpPr txBox="1"/>
          <p:nvPr/>
        </p:nvSpPr>
        <p:spPr>
          <a:xfrm>
            <a:off x="2969670" y="1727195"/>
            <a:ext cx="304479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1С:ПРЕДПРИЯТИЕ</a:t>
            </a:r>
            <a:br>
              <a:rPr lang="ru-RU" dirty="0"/>
            </a:br>
            <a:r>
              <a:rPr lang="ru-RU" dirty="0"/>
              <a:t>ПЛАТФОРМА РАЗРАБОТКИ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4264B1-0F01-45B8-A15B-8691B08BD3F2}"/>
              </a:ext>
            </a:extLst>
          </p:cNvPr>
          <p:cNvSpPr txBox="1"/>
          <p:nvPr/>
        </p:nvSpPr>
        <p:spPr>
          <a:xfrm>
            <a:off x="5717406" y="1727194"/>
            <a:ext cx="340482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b="1" dirty="0"/>
              <a:t>Docker </a:t>
            </a:r>
            <a:r>
              <a:rPr lang="ru-RU" b="1" dirty="0"/>
              <a:t>и </a:t>
            </a:r>
            <a:r>
              <a:rPr lang="en-GB" b="1" dirty="0"/>
              <a:t>Docker Swarm</a:t>
            </a:r>
            <a:br>
              <a:rPr lang="en-GB" dirty="0"/>
            </a:br>
            <a:r>
              <a:rPr lang="ru-RU" dirty="0"/>
              <a:t>ВИРТУАЛИЗАЦИЯ, ОРКЕСТРАЦИЯ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0B1AE3-5D89-4DF8-8432-C4526A24F14B}"/>
              </a:ext>
            </a:extLst>
          </p:cNvPr>
          <p:cNvSpPr txBox="1"/>
          <p:nvPr/>
        </p:nvSpPr>
        <p:spPr>
          <a:xfrm>
            <a:off x="2979428" y="3317298"/>
            <a:ext cx="304479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PostgreSQL</a:t>
            </a:r>
            <a:br>
              <a:rPr lang="en-GB" dirty="0"/>
            </a:br>
            <a:r>
              <a:rPr lang="ru-RU" dirty="0"/>
              <a:t>РЕЛЯЦИОННАЯ СУБД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C03FB3-0486-4810-A0AD-034CC6393AF9}"/>
              </a:ext>
            </a:extLst>
          </p:cNvPr>
          <p:cNvSpPr txBox="1"/>
          <p:nvPr/>
        </p:nvSpPr>
        <p:spPr>
          <a:xfrm>
            <a:off x="6077438" y="3317298"/>
            <a:ext cx="304479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b="1" dirty="0" err="1"/>
              <a:t>WireGuard</a:t>
            </a:r>
            <a:br>
              <a:rPr lang="en-GB" dirty="0"/>
            </a:br>
            <a:r>
              <a:rPr lang="ru-RU" dirty="0"/>
              <a:t>ЧАСТНАЯ СЕТЬ (</a:t>
            </a:r>
            <a:r>
              <a:rPr lang="en-GB" dirty="0"/>
              <a:t>VPN)</a:t>
            </a:r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11E714-0D88-45DB-A56A-DC80333493A4}"/>
              </a:ext>
            </a:extLst>
          </p:cNvPr>
          <p:cNvSpPr txBox="1"/>
          <p:nvPr/>
        </p:nvSpPr>
        <p:spPr>
          <a:xfrm>
            <a:off x="2969670" y="4958252"/>
            <a:ext cx="304479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Ubuntu</a:t>
            </a:r>
            <a:br>
              <a:rPr lang="en-GB" b="1" dirty="0"/>
            </a:br>
            <a:r>
              <a:rPr lang="ru-RU" dirty="0"/>
              <a:t>СЕРВЕРНАЯ ОС </a:t>
            </a:r>
            <a:r>
              <a:rPr lang="en-GB" dirty="0"/>
              <a:t>GNU/LINUX</a:t>
            </a:r>
            <a:endParaRPr lang="ru-R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F48F6C-9BB6-4922-9EDB-7CBEB2A7AEFE}"/>
              </a:ext>
            </a:extLst>
          </p:cNvPr>
          <p:cNvSpPr txBox="1"/>
          <p:nvPr/>
        </p:nvSpPr>
        <p:spPr>
          <a:xfrm>
            <a:off x="5901267" y="4958252"/>
            <a:ext cx="322096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b="1" dirty="0"/>
              <a:t>GitLab </a:t>
            </a:r>
            <a:r>
              <a:rPr lang="ru-RU" b="1" dirty="0"/>
              <a:t>и </a:t>
            </a:r>
            <a:r>
              <a:rPr lang="en-GB" b="1" dirty="0"/>
              <a:t>GitLab Runner</a:t>
            </a:r>
          </a:p>
          <a:p>
            <a:pPr algn="r"/>
            <a:r>
              <a:rPr lang="ru-RU" dirty="0"/>
              <a:t>КОНТРОЛЬ ВЕРСИЙ </a:t>
            </a:r>
            <a:r>
              <a:rPr lang="en-GB" dirty="0"/>
              <a:t>(GIT)</a:t>
            </a:r>
            <a:r>
              <a:rPr lang="ru-RU" dirty="0"/>
              <a:t>, </a:t>
            </a:r>
            <a:r>
              <a:rPr lang="en-GB" dirty="0"/>
              <a:t>CI/CD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672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D04E486-3FD8-4261-B4F2-3F23B9E74F2C}"/>
              </a:ext>
            </a:extLst>
          </p:cNvPr>
          <p:cNvSpPr/>
          <p:nvPr/>
        </p:nvSpPr>
        <p:spPr>
          <a:xfrm>
            <a:off x="0" y="852281"/>
            <a:ext cx="12192000" cy="6018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МОДЕЛЬ СИСТЕМЫ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7</a:t>
            </a:fld>
            <a:endParaRPr lang="ru-RU"/>
          </a:p>
        </p:txBody>
      </p:sp>
      <p:sp>
        <p:nvSpPr>
          <p:cNvPr id="12" name="Арка 11">
            <a:extLst>
              <a:ext uri="{FF2B5EF4-FFF2-40B4-BE49-F238E27FC236}">
                <a16:creationId xmlns:a16="http://schemas.microsoft.com/office/drawing/2014/main" id="{65920291-8E7E-4F27-BDA4-6B6E6538BB7E}"/>
              </a:ext>
            </a:extLst>
          </p:cNvPr>
          <p:cNvSpPr/>
          <p:nvPr/>
        </p:nvSpPr>
        <p:spPr>
          <a:xfrm rot="19377026">
            <a:off x="11485599" y="6061184"/>
            <a:ext cx="588516" cy="588516"/>
          </a:xfrm>
          <a:prstGeom prst="blockArc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91E680D-BEE4-4BF9-A878-C8F5756B1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362" y="1056477"/>
            <a:ext cx="12284799" cy="491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9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1C10A44-837F-4C34-9E4C-5C16369ABDCD}"/>
              </a:ext>
            </a:extLst>
          </p:cNvPr>
          <p:cNvSpPr/>
          <p:nvPr/>
        </p:nvSpPr>
        <p:spPr>
          <a:xfrm>
            <a:off x="1" y="933651"/>
            <a:ext cx="12192000" cy="5924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КОНФИГУРАЦИИ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8</a:t>
            </a:fld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75F6791F-5AE1-4AFB-84CA-3E6DECAFBC7B}"/>
              </a:ext>
            </a:extLst>
          </p:cNvPr>
          <p:cNvSpPr/>
          <p:nvPr/>
        </p:nvSpPr>
        <p:spPr>
          <a:xfrm>
            <a:off x="-3337662" y="5057293"/>
            <a:ext cx="6256421" cy="659591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558E02-3B40-47E3-8065-52B72AE83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47" y="933651"/>
            <a:ext cx="11530020" cy="561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31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6635D8E-3F41-42E2-A505-CA94F6BE7706}"/>
              </a:ext>
            </a:extLst>
          </p:cNvPr>
          <p:cNvSpPr/>
          <p:nvPr/>
        </p:nvSpPr>
        <p:spPr>
          <a:xfrm flipH="1">
            <a:off x="0" y="941646"/>
            <a:ext cx="12192000" cy="5914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ОБЕСПЕЧЕНИЕ БЕЗОПАСНОСТИ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9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93AFAA5-C41B-42D5-B858-B46043DAC002}"/>
              </a:ext>
            </a:extLst>
          </p:cNvPr>
          <p:cNvSpPr/>
          <p:nvPr/>
        </p:nvSpPr>
        <p:spPr>
          <a:xfrm flipH="1">
            <a:off x="539013" y="943276"/>
            <a:ext cx="4764506" cy="59147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17BE3A-141B-4BAD-B923-DE35C0F25105}"/>
              </a:ext>
            </a:extLst>
          </p:cNvPr>
          <p:cNvSpPr txBox="1"/>
          <p:nvPr/>
        </p:nvSpPr>
        <p:spPr>
          <a:xfrm>
            <a:off x="678811" y="1528165"/>
            <a:ext cx="4523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КОМПЛЕКСНЫЙ ПОДХОД</a:t>
            </a:r>
            <a:b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К ОБЕСПЕЧЕНИЮ ИБ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AC3C2F-B25B-40EC-8713-0DFCBFBAC8C3}"/>
              </a:ext>
            </a:extLst>
          </p:cNvPr>
          <p:cNvSpPr txBox="1"/>
          <p:nvPr/>
        </p:nvSpPr>
        <p:spPr>
          <a:xfrm>
            <a:off x="678810" y="2883345"/>
            <a:ext cx="4523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Сохранность персональных данных – важнейшее требование к системе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D2D059-CF9C-452B-9738-E112A33BD389}"/>
              </a:ext>
            </a:extLst>
          </p:cNvPr>
          <p:cNvSpPr txBox="1"/>
          <p:nvPr/>
        </p:nvSpPr>
        <p:spPr>
          <a:xfrm>
            <a:off x="678810" y="4423192"/>
            <a:ext cx="4523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Использование одной группы средств защиты – признак плохой системы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396020-DE9C-4515-984A-1F4155F29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419" y="1886986"/>
            <a:ext cx="5285139" cy="402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54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6842E3D-4023-4437-86C8-69BE3DBACA9B}"/>
              </a:ext>
            </a:extLst>
          </p:cNvPr>
          <p:cNvSpPr/>
          <p:nvPr/>
        </p:nvSpPr>
        <p:spPr>
          <a:xfrm flipH="1">
            <a:off x="0" y="941646"/>
            <a:ext cx="12192000" cy="5914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РАЗВЕРТЫВАНИЕ И ИНТЕГРАЦИЯ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10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FCA9C6-1BD8-4D70-A2CF-30D30253E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3" y="2141079"/>
            <a:ext cx="6372225" cy="9525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B61E31-2302-45A2-A5A0-89FBC4AD8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879" y="3523622"/>
            <a:ext cx="4924425" cy="227647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C52DB7-52A2-4998-8573-431AA78A4890}"/>
              </a:ext>
            </a:extLst>
          </p:cNvPr>
          <p:cNvSpPr txBox="1"/>
          <p:nvPr/>
        </p:nvSpPr>
        <p:spPr>
          <a:xfrm>
            <a:off x="253313" y="1318052"/>
            <a:ext cx="626535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ОБНОВЛЕНИЕ КОНФИГУРАЦИИ</a:t>
            </a:r>
            <a:b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Каждый коммит в репозитории</a:t>
            </a:r>
            <a:b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E2A62-23DA-4A58-9C4F-DA7AA1F0CEC3}"/>
              </a:ext>
            </a:extLst>
          </p:cNvPr>
          <p:cNvSpPr txBox="1"/>
          <p:nvPr/>
        </p:nvSpPr>
        <p:spPr>
          <a:xfrm>
            <a:off x="7302515" y="2692625"/>
            <a:ext cx="4065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ЗАПУСК КОМПОНЕНТОВ</a:t>
            </a:r>
            <a:b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Создается вручную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99C3C9-3909-45A9-A6C0-6A55EE19A350}"/>
              </a:ext>
            </a:extLst>
          </p:cNvPr>
          <p:cNvSpPr txBox="1"/>
          <p:nvPr/>
        </p:nvSpPr>
        <p:spPr>
          <a:xfrm>
            <a:off x="253313" y="4645900"/>
            <a:ext cx="56277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КОНВЕЙЕР ЗАДАЧ (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PIPELINE)</a:t>
            </a:r>
            <a:b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Последовательность автоматизированных задач в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GitLab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910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5E3748-7D72-4074-A64D-E4B2725D3F12}"/>
              </a:ext>
            </a:extLst>
          </p:cNvPr>
          <p:cNvSpPr/>
          <p:nvPr/>
        </p:nvSpPr>
        <p:spPr>
          <a:xfrm>
            <a:off x="0" y="943276"/>
            <a:ext cx="12192000" cy="5914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11</a:t>
            </a:fld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D471F13-55A2-44CF-AA7F-EB9E5B39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АВТОНОМНЫЙ СЕРВЕР. ВЫГРУЗКА ИЗ </a:t>
            </a:r>
            <a:r>
              <a:rPr lang="en-GB" dirty="0"/>
              <a:t>XML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52F4E6-C28A-49A3-B0E3-E5B8CC2A7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11" y="839755"/>
            <a:ext cx="9944607" cy="611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60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5E3748-7D72-4074-A64D-E4B2725D3F12}"/>
              </a:ext>
            </a:extLst>
          </p:cNvPr>
          <p:cNvSpPr/>
          <p:nvPr/>
        </p:nvSpPr>
        <p:spPr>
          <a:xfrm>
            <a:off x="0" y="934963"/>
            <a:ext cx="12192000" cy="5914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12</a:t>
            </a:fld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D471F13-55A2-44CF-AA7F-EB9E5B39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 КОМПОНЕНТОВ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84560E-0E9B-4B7D-A052-7A7B58AEC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824" y="839755"/>
            <a:ext cx="8978351" cy="581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14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8CF2C09-79FA-4013-A842-A004A82D7B70}"/>
              </a:ext>
            </a:extLst>
          </p:cNvPr>
          <p:cNvSpPr/>
          <p:nvPr/>
        </p:nvSpPr>
        <p:spPr>
          <a:xfrm flipH="1">
            <a:off x="0" y="941646"/>
            <a:ext cx="12192000" cy="5914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13</a:t>
            </a:fld>
            <a:endParaRPr lang="ru-RU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603380" y="1183907"/>
            <a:ext cx="11053665" cy="5171536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Цель</a:t>
            </a:r>
            <a:r>
              <a:rPr lang="ru-RU" dirty="0"/>
              <a:t> ВКР достигнута </a:t>
            </a:r>
            <a:r>
              <a:rPr lang="ru-RU" dirty="0">
                <a:sym typeface="Symbol" panose="05050102010706020507" pitchFamily="18" charset="2"/>
              </a:rPr>
              <a:t> с помощью разработанной информационной системы был оптимизирован процесс делопроизводства в образовательной организации.</a:t>
            </a:r>
          </a:p>
          <a:p>
            <a:endParaRPr lang="ru-RU" dirty="0">
              <a:sym typeface="Symbol" panose="05050102010706020507" pitchFamily="18" charset="2"/>
            </a:endParaRPr>
          </a:p>
          <a:p>
            <a:r>
              <a:rPr lang="ru-RU" dirty="0">
                <a:sym typeface="Symbol" panose="05050102010706020507" pitchFamily="18" charset="2"/>
              </a:rPr>
              <a:t>Для ее достижения были решены следующие </a:t>
            </a:r>
            <a:r>
              <a:rPr lang="ru-RU" b="1" u="sng" dirty="0">
                <a:sym typeface="Symbol" panose="05050102010706020507" pitchFamily="18" charset="2"/>
              </a:rPr>
              <a:t>задачи</a:t>
            </a:r>
            <a:r>
              <a:rPr lang="ru-RU" dirty="0">
                <a:sym typeface="Symbol" panose="05050102010706020507" pitchFamily="18" charset="2"/>
              </a:rPr>
              <a:t>:</a:t>
            </a: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Проанализирована предметная область и определены требования к системе</a:t>
            </a:r>
            <a:r>
              <a:rPr lang="en-GB" dirty="0">
                <a:sym typeface="Symbol" panose="05050102010706020507" pitchFamily="18" charset="2"/>
              </a:rPr>
              <a:t>;</a:t>
            </a:r>
            <a:endParaRPr lang="ru-RU" dirty="0">
              <a:sym typeface="Symbol" panose="05050102010706020507" pitchFamily="18" charset="2"/>
            </a:endParaRP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Спроектирована архитектура системы</a:t>
            </a:r>
            <a:r>
              <a:rPr lang="en-GB" dirty="0">
                <a:sym typeface="Symbol" panose="05050102010706020507" pitchFamily="18" charset="2"/>
              </a:rPr>
              <a:t>;</a:t>
            </a:r>
            <a:endParaRPr lang="ru-RU" dirty="0">
              <a:sym typeface="Symbol" panose="05050102010706020507" pitchFamily="18" charset="2"/>
            </a:endParaRP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Разработана конфигурация ИС</a:t>
            </a:r>
            <a:r>
              <a:rPr lang="en-GB" dirty="0">
                <a:sym typeface="Symbol" panose="05050102010706020507" pitchFamily="18" charset="2"/>
              </a:rPr>
              <a:t>;</a:t>
            </a:r>
            <a:endParaRPr lang="ru-RU" dirty="0">
              <a:sym typeface="Symbol" panose="05050102010706020507" pitchFamily="18" charset="2"/>
            </a:endParaRP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Проведена работа по обеспечению ИБ</a:t>
            </a:r>
            <a:r>
              <a:rPr lang="en-GB" dirty="0">
                <a:sym typeface="Symbol" panose="05050102010706020507" pitchFamily="18" charset="2"/>
              </a:rPr>
              <a:t>;</a:t>
            </a:r>
            <a:endParaRPr lang="ru-RU" dirty="0">
              <a:sym typeface="Symbol" panose="05050102010706020507" pitchFamily="18" charset="2"/>
            </a:endParaRP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Настроен процесс непрерывной разработки и развертывания</a:t>
            </a:r>
            <a:r>
              <a:rPr lang="en-GB" dirty="0">
                <a:sym typeface="Symbol" panose="05050102010706020507" pitchFamily="18" charset="2"/>
              </a:rPr>
              <a:t>;</a:t>
            </a:r>
            <a:endParaRPr lang="ru-RU" dirty="0">
              <a:sym typeface="Symbol" panose="05050102010706020507" pitchFamily="18" charset="2"/>
            </a:endParaRPr>
          </a:p>
          <a:p>
            <a:pPr marL="1080000" indent="-514350">
              <a:buFont typeface="+mj-lt"/>
              <a:buAutoNum type="arabicPeriod"/>
            </a:pPr>
            <a:r>
              <a:rPr lang="ru-RU" dirty="0">
                <a:sym typeface="Symbol" panose="05050102010706020507" pitchFamily="18" charset="2"/>
              </a:rPr>
              <a:t>Проведена проверка и анализ системы</a:t>
            </a:r>
            <a:r>
              <a:rPr lang="en-GB" dirty="0">
                <a:sym typeface="Symbol" panose="05050102010706020507" pitchFamily="18" charset="2"/>
              </a:rPr>
              <a:t>.</a:t>
            </a:r>
            <a:endParaRPr lang="ru-RU" dirty="0">
              <a:sym typeface="Symbol" panose="05050102010706020507" pitchFamily="18" charset="2"/>
            </a:endParaRPr>
          </a:p>
          <a:p>
            <a:endParaRPr lang="ru-RU" dirty="0">
              <a:sym typeface="Symbol" panose="05050102010706020507" pitchFamily="18" charset="2"/>
            </a:endParaRPr>
          </a:p>
          <a:p>
            <a:endParaRPr lang="ru-RU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26486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8DECC7B-1EE2-4865-8777-46A11071221C}"/>
              </a:ext>
            </a:extLst>
          </p:cNvPr>
          <p:cNvSpPr/>
          <p:nvPr/>
        </p:nvSpPr>
        <p:spPr>
          <a:xfrm flipH="1">
            <a:off x="0" y="941646"/>
            <a:ext cx="12192000" cy="5914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ВНЕДРЕНИЕ СИСТЕМЫ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14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497D62-7186-4F2C-9236-881687D3FA8C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4" r="1595"/>
          <a:stretch/>
        </p:blipFill>
        <p:spPr bwMode="auto">
          <a:xfrm>
            <a:off x="7514989" y="1028081"/>
            <a:ext cx="3609475" cy="5741853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5EA4C0-D9BE-464E-B1F8-4DA442932C84}"/>
              </a:ext>
            </a:extLst>
          </p:cNvPr>
          <p:cNvSpPr txBox="1"/>
          <p:nvPr/>
        </p:nvSpPr>
        <p:spPr>
          <a:xfrm>
            <a:off x="490888" y="1212783"/>
            <a:ext cx="6468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РЕЗУЛЬТАТ РАБОТЫ –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УСПЕШНОЕ ВНЕДРЕНИЕ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СИСТЕМЫ И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ПОВЫШЕНИЕ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ПРОИЗВОДИТЕЛЬНОСТИ ОРГАНИЗАЦИИ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6C1F47-DEB7-4F76-998F-B51D14355EFB}"/>
              </a:ext>
            </a:extLst>
          </p:cNvPr>
          <p:cNvSpPr txBox="1"/>
          <p:nvPr/>
        </p:nvSpPr>
        <p:spPr>
          <a:xfrm>
            <a:off x="490887" y="5322051"/>
            <a:ext cx="6468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ЭКОНОМИЯ БОЛЕЕ </a:t>
            </a:r>
            <a:r>
              <a:rPr lang="ru-RU" b="1" u="sng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РАБОЧИХ ЧАСОВ В МЕСЯЦ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ОПТИМИЗАЦИЯ РАБОТЫ В </a:t>
            </a:r>
            <a:r>
              <a:rPr lang="ru-RU" b="1" u="sng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РАЗ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D33AB03B-F7BC-447D-81E8-7EF4B1415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80145"/>
              </p:ext>
            </p:extLst>
          </p:nvPr>
        </p:nvGraphicFramePr>
        <p:xfrm>
          <a:off x="321194" y="2538151"/>
          <a:ext cx="6872601" cy="233488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schemeClr val="accent1">
                      <a:lumMod val="60000"/>
                      <a:lumOff val="40000"/>
                      <a:alpha val="40000"/>
                    </a:schemeClr>
                  </a:outerShdw>
                </a:effectLst>
                <a:tableStyleId>{5C22544A-7EE6-4342-B048-85BDC9FD1C3A}</a:tableStyleId>
              </a:tblPr>
              <a:tblGrid>
                <a:gridCol w="2896814">
                  <a:extLst>
                    <a:ext uri="{9D8B030D-6E8A-4147-A177-3AD203B41FA5}">
                      <a16:colId xmlns:a16="http://schemas.microsoft.com/office/drawing/2014/main" val="24942796"/>
                    </a:ext>
                  </a:extLst>
                </a:gridCol>
                <a:gridCol w="863541">
                  <a:extLst>
                    <a:ext uri="{9D8B030D-6E8A-4147-A177-3AD203B41FA5}">
                      <a16:colId xmlns:a16="http://schemas.microsoft.com/office/drawing/2014/main" val="3591837300"/>
                    </a:ext>
                  </a:extLst>
                </a:gridCol>
                <a:gridCol w="1024665">
                  <a:extLst>
                    <a:ext uri="{9D8B030D-6E8A-4147-A177-3AD203B41FA5}">
                      <a16:colId xmlns:a16="http://schemas.microsoft.com/office/drawing/2014/main" val="2448684195"/>
                    </a:ext>
                  </a:extLst>
                </a:gridCol>
                <a:gridCol w="949967">
                  <a:extLst>
                    <a:ext uri="{9D8B030D-6E8A-4147-A177-3AD203B41FA5}">
                      <a16:colId xmlns:a16="http://schemas.microsoft.com/office/drawing/2014/main" val="4268957278"/>
                    </a:ext>
                  </a:extLst>
                </a:gridCol>
                <a:gridCol w="1137614">
                  <a:extLst>
                    <a:ext uri="{9D8B030D-6E8A-4147-A177-3AD203B41FA5}">
                      <a16:colId xmlns:a16="http://schemas.microsoft.com/office/drawing/2014/main" val="171971459"/>
                    </a:ext>
                  </a:extLst>
                </a:gridCol>
              </a:tblGrid>
              <a:tr h="330013">
                <a:tc rowSpan="3"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Трудоемкие задачи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5867" marR="105867" marT="52934" marB="52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Трудозатраты (часов в месяц)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5867" marR="105867" marT="52934" marB="52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306268"/>
                  </a:ext>
                </a:extLst>
              </a:tr>
              <a:tr h="33001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Было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5867" marR="105867" marT="52934" marB="52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Стало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5867" marR="105867" marT="52934" marB="52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Сравнение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5867" marR="105867" marT="52934" marB="52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153414"/>
                  </a:ext>
                </a:extLst>
              </a:tr>
              <a:tr h="32709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Разница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Соотн.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030037"/>
                  </a:ext>
                </a:extLst>
              </a:tr>
              <a:tr h="327094">
                <a:tc>
                  <a:txBody>
                    <a:bodyPr/>
                    <a:lstStyle/>
                    <a:p>
                      <a:pPr marL="360000" algn="l" fontAlgn="b">
                        <a:spcBef>
                          <a:spcPts val="1200"/>
                        </a:spcBef>
                      </a:pP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Выдача справок</a:t>
                      </a: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18 раз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406655"/>
                  </a:ext>
                </a:extLst>
              </a:tr>
              <a:tr h="327094">
                <a:tc>
                  <a:txBody>
                    <a:bodyPr/>
                    <a:lstStyle/>
                    <a:p>
                      <a:pPr marL="360000" algn="l" fontAlgn="b">
                        <a:spcBef>
                          <a:spcPts val="1200"/>
                        </a:spcBef>
                      </a:pP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Отчеты в СФР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7 раз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327102"/>
                  </a:ext>
                </a:extLst>
              </a:tr>
              <a:tr h="327094">
                <a:tc>
                  <a:txBody>
                    <a:bodyPr/>
                    <a:lstStyle/>
                    <a:p>
                      <a:pPr marL="360000" algn="l" fontAlgn="b">
                        <a:spcBef>
                          <a:spcPts val="1200"/>
                        </a:spcBef>
                      </a:pP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Учет выплат по льготам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20 раз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255083"/>
                  </a:ext>
                </a:extLst>
              </a:tr>
              <a:tr h="327094">
                <a:tc>
                  <a:txBody>
                    <a:bodyPr/>
                    <a:lstStyle/>
                    <a:p>
                      <a:pPr marL="360000" algn="ctr" fontAlgn="b">
                        <a:spcBef>
                          <a:spcPts val="1200"/>
                        </a:spcBef>
                        <a:spcAft>
                          <a:spcPts val="3000"/>
                        </a:spcAft>
                      </a:pPr>
                      <a:r>
                        <a:rPr lang="ru-RU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Итог:  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 ч.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ч.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 ч.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13 раз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321" marR="12321" marT="123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11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634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87862E-8320-4B99-8DCC-D932739E7C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15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1D9A849-E5A7-4578-948C-81839E77955E}"/>
              </a:ext>
            </a:extLst>
          </p:cNvPr>
          <p:cNvSpPr txBox="1">
            <a:spLocks/>
          </p:cNvSpPr>
          <p:nvPr/>
        </p:nvSpPr>
        <p:spPr>
          <a:xfrm>
            <a:off x="0" y="3157700"/>
            <a:ext cx="12192000" cy="5425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БЛАГОДАРЮ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701445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5E3748-7D72-4074-A64D-E4B2725D3F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009122"/>
            <a:ext cx="12192000" cy="839755"/>
          </a:xfrm>
        </p:spPr>
        <p:txBody>
          <a:bodyPr>
            <a:normAutofit/>
          </a:bodyPr>
          <a:lstStyle/>
          <a:p>
            <a:r>
              <a:rPr lang="ru-RU" dirty="0"/>
              <a:t>ДОПОЛНИТЕЛЬНО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405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5E3748-7D72-4074-A64D-E4B2725D3F12}"/>
              </a:ext>
            </a:extLst>
          </p:cNvPr>
          <p:cNvSpPr/>
          <p:nvPr/>
        </p:nvSpPr>
        <p:spPr>
          <a:xfrm>
            <a:off x="0" y="943276"/>
            <a:ext cx="12192000" cy="5914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17</a:t>
            </a:fld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D471F13-55A2-44CF-AA7F-EB9E5B39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ОБЪЕКТЫ ИБ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C8E67AD-0B78-4F78-8ED0-B92788CC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28" y="2359041"/>
            <a:ext cx="2781300" cy="254317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0E8A4D5-9173-4409-BADA-421158D7E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143" y="1959717"/>
            <a:ext cx="2505075" cy="31242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D83FE1A-80C4-4D8F-8774-0BD52510F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533" y="5210255"/>
            <a:ext cx="2133600" cy="94297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06DCEA4-9072-4476-AE8F-3CF628C79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207" y="2959842"/>
            <a:ext cx="1323975" cy="56197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126AB28-FDE1-43C6-88B5-4BEADC3B96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248" y="4386462"/>
            <a:ext cx="1905000" cy="40005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7011130-4B4F-4458-B20C-11B9811B0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8808" y="3794178"/>
            <a:ext cx="1543050" cy="24765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8F1915D-8894-4572-9580-06B1F003EF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661" y="2433819"/>
            <a:ext cx="1400175" cy="27622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F80F9D9-FE1D-4D3E-8A34-D764103F19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7764" y="1783971"/>
            <a:ext cx="1266825" cy="40005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40EB66C-22B1-4B39-8ED4-47724F5758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9323" y="1878028"/>
            <a:ext cx="2524125" cy="35052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9980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5E3748-7D72-4074-A64D-E4B2725D3F12}"/>
              </a:ext>
            </a:extLst>
          </p:cNvPr>
          <p:cNvSpPr/>
          <p:nvPr/>
        </p:nvSpPr>
        <p:spPr>
          <a:xfrm>
            <a:off x="0" y="943276"/>
            <a:ext cx="12192000" cy="5914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18</a:t>
            </a:fld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D471F13-55A2-44CF-AA7F-EB9E5B39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ФОРМЫ И МАКЕТЫ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3406A6-DB7E-461C-814E-CC673703D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665" y="1072611"/>
            <a:ext cx="6618322" cy="262809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3334EA1-4688-4461-B2DA-54B7073FD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93" y="3955579"/>
            <a:ext cx="10376034" cy="246236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6358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5E3748-7D72-4074-A64D-E4B2725D3F12}"/>
              </a:ext>
            </a:extLst>
          </p:cNvPr>
          <p:cNvSpPr/>
          <p:nvPr/>
        </p:nvSpPr>
        <p:spPr>
          <a:xfrm>
            <a:off x="0" y="943276"/>
            <a:ext cx="12192000" cy="5914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19</a:t>
            </a:fld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D471F13-55A2-44CF-AA7F-EB9E5B39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ПРОГРАММНЫЙ КОД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6798275-7D99-4FBB-B91D-98ED367DC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305" y="1320867"/>
            <a:ext cx="7219950" cy="180975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AE75A0-39CE-450D-8D60-6D50AE5EB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19" y="3866849"/>
            <a:ext cx="7562850" cy="204787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8996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5E3748-7D72-4074-A64D-E4B2725D3F12}"/>
              </a:ext>
            </a:extLst>
          </p:cNvPr>
          <p:cNvSpPr/>
          <p:nvPr/>
        </p:nvSpPr>
        <p:spPr>
          <a:xfrm>
            <a:off x="0" y="943276"/>
            <a:ext cx="12192000" cy="5914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D471F13-55A2-44CF-AA7F-EB9E5B39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en-GB" dirty="0"/>
              <a:t>CI/CD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679A-727F-4C4B-9922-BEE4867AF129}" type="slidenum">
              <a:rPr lang="ru-RU" smtClean="0"/>
              <a:t>20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37FE90-E4B2-47EB-8D58-E696AF09A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37" y="2298340"/>
            <a:ext cx="11073526" cy="3204594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5453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</TotalTime>
  <Words>467</Words>
  <Application>Microsoft Office PowerPoint</Application>
  <PresentationFormat>Широкоэкранный</PresentationFormat>
  <Paragraphs>136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Тема Office</vt:lpstr>
      <vt:lpstr>Разработка информационной системы учебного заведения с реализацией удаленного доступа и обеспечением конфиденциальности</vt:lpstr>
      <vt:lpstr>ОБОСНОВАНИЕ АКТУАЛЬНОСТИ ТЕМЫ</vt:lpstr>
      <vt:lpstr>ЦЕЛЬ И ЗАДАЧИ ВКР</vt:lpstr>
      <vt:lpstr>ОБЗОР СУЩЕСТВУЮЩИХ РЕШЕНИЙ</vt:lpstr>
      <vt:lpstr>ТРЕБОВАНИЯ К ИС </vt:lpstr>
      <vt:lpstr>СРЕДСТВА РАЗРАБОТКИ И СОПРОВОЖДЕНИЯ ИС</vt:lpstr>
      <vt:lpstr>МОДЕЛЬ СИСТЕМЫ</vt:lpstr>
      <vt:lpstr>РАЗРАБОТКА КОНФИГУРАЦИИ</vt:lpstr>
      <vt:lpstr>ОБЕСПЕЧЕНИЕ БЕЗОПАСНОСТИ</vt:lpstr>
      <vt:lpstr>РАЗВЕРТЫВАНИЕ И ИНТЕГРАЦИЯ</vt:lpstr>
      <vt:lpstr>АВТОНОМНЫЙ СЕРВЕР. ВЫГРУЗКА ИЗ XML</vt:lpstr>
      <vt:lpstr>ЗАПУСК КОМПОНЕНТОВ</vt:lpstr>
      <vt:lpstr>РЕЗУЛЬТАТЫ</vt:lpstr>
      <vt:lpstr>ВНЕДРЕНИЕ СИСТЕМЫ</vt:lpstr>
      <vt:lpstr>Презентация PowerPoint</vt:lpstr>
      <vt:lpstr>ДОПОЛНИТЕЛЬНО</vt:lpstr>
      <vt:lpstr>ОБЪЕКТЫ ИБ</vt:lpstr>
      <vt:lpstr>ФОРМЫ И МАКЕТЫ</vt:lpstr>
      <vt:lpstr>ПРОГРАММНЫЙ КОД</vt:lpstr>
      <vt:lpstr>ПРО CI/CD</vt:lpstr>
    </vt:vector>
  </TitlesOfParts>
  <Company>HH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Тындыкарь Л.Н.</dc:creator>
  <cp:lastModifiedBy>Roninore L</cp:lastModifiedBy>
  <cp:revision>68</cp:revision>
  <dcterms:created xsi:type="dcterms:W3CDTF">2023-06-17T06:59:13Z</dcterms:created>
  <dcterms:modified xsi:type="dcterms:W3CDTF">2024-07-06T14:56:05Z</dcterms:modified>
</cp:coreProperties>
</file>